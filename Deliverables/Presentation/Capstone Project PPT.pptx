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27e0e40b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27e0e40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27e0e40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27e0e40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272228d87_0_1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272228d8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272228d87_0_1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272228d8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27e0e40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27e0e4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272228d8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272228d8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73300" y="1479175"/>
            <a:ext cx="50175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entury Gothic"/>
                <a:ea typeface="Century Gothic"/>
                <a:cs typeface="Century Gothic"/>
                <a:sym typeface="Century Gothic"/>
              </a:rPr>
              <a:t>Utility</a:t>
            </a:r>
            <a:r>
              <a:rPr b="1" lang="en">
                <a:latin typeface="Century Gothic"/>
                <a:ea typeface="Century Gothic"/>
                <a:cs typeface="Century Gothic"/>
                <a:sym typeface="Century Gothic"/>
              </a:rPr>
              <a:t> Billing </a:t>
            </a:r>
            <a:r>
              <a:rPr b="1" lang="en">
                <a:latin typeface="Century Gothic"/>
                <a:ea typeface="Century Gothic"/>
                <a:cs typeface="Century Gothic"/>
                <a:sym typeface="Century Gothic"/>
              </a:rPr>
              <a:t>System</a:t>
            </a:r>
            <a:endParaRPr b="1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175525" y="3632975"/>
            <a:ext cx="2661600" cy="6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60"/>
              <a:t>Presented by:</a:t>
            </a:r>
            <a:endParaRPr sz="16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60"/>
              <a:t>Ashutosh Jena</a:t>
            </a:r>
            <a:endParaRPr sz="1660"/>
          </a:p>
        </p:txBody>
      </p:sp>
      <p:sp>
        <p:nvSpPr>
          <p:cNvPr id="136" name="Google Shape;136;p13"/>
          <p:cNvSpPr txBox="1"/>
          <p:nvPr/>
        </p:nvSpPr>
        <p:spPr>
          <a:xfrm>
            <a:off x="3173300" y="2279250"/>
            <a:ext cx="513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Secure Full-Stack Web Application using ASP.NET Core &amp; Angular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790775" y="358350"/>
            <a:ext cx="387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b="1" sz="2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790775" y="1400300"/>
            <a:ext cx="81480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Business Context &amp; Problem Statement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Project Objectives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Technology Stack (Backend &amp; Frontend)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System Architecture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User Roles &amp; Security Implementation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System Workflow (Flowchart)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Core Modules &amp; Features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Data Analytics and LINQ Implementation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UI Screenshots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Live Demonstration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708150" y="-77225"/>
            <a:ext cx="5772000" cy="12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Business Context &amp; Problem Statement</a:t>
            </a:r>
            <a:endParaRPr b="1" sz="2500"/>
          </a:p>
        </p:txBody>
      </p:sp>
      <p:sp>
        <p:nvSpPr>
          <p:cNvPr id="148" name="Google Shape;148;p15"/>
          <p:cNvSpPr txBox="1"/>
          <p:nvPr/>
        </p:nvSpPr>
        <p:spPr>
          <a:xfrm>
            <a:off x="708150" y="1052950"/>
            <a:ext cx="5772000" cy="4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E3E3E3"/>
                </a:solidFill>
              </a:rPr>
              <a:t>The Current Landscape</a:t>
            </a:r>
            <a:endParaRPr b="1"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lang="en" sz="1250">
                <a:solidFill>
                  <a:srgbClr val="E3E3E3"/>
                </a:solidFill>
              </a:rPr>
              <a:t>Utility providers manage thousands of consumer connections and billing cycles.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lang="en" sz="1250">
                <a:solidFill>
                  <a:srgbClr val="E3E3E3"/>
                </a:solidFill>
              </a:rPr>
              <a:t>Reliance on </a:t>
            </a:r>
            <a:r>
              <a:rPr b="1" lang="en" sz="1250">
                <a:solidFill>
                  <a:srgbClr val="E3E3E3"/>
                </a:solidFill>
              </a:rPr>
              <a:t>semi-manual systems</a:t>
            </a:r>
            <a:r>
              <a:rPr lang="en" sz="1250">
                <a:solidFill>
                  <a:srgbClr val="E3E3E3"/>
                </a:solidFill>
              </a:rPr>
              <a:t> leads to critical inefficiencies.</a:t>
            </a:r>
            <a:endParaRPr sz="12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E3E3E3"/>
                </a:solidFill>
              </a:rPr>
              <a:t>Core Challenges</a:t>
            </a:r>
            <a:endParaRPr b="1"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E3E3E3"/>
                </a:solidFill>
              </a:rPr>
              <a:t>Accuracy:</a:t>
            </a:r>
            <a:r>
              <a:rPr lang="en" sz="1250">
                <a:solidFill>
                  <a:srgbClr val="E3E3E3"/>
                </a:solidFill>
              </a:rPr>
              <a:t> Incorrect meter readings and frequent billing errors.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E3E3E3"/>
                </a:solidFill>
              </a:rPr>
              <a:t>Efficiency:</a:t>
            </a:r>
            <a:r>
              <a:rPr lang="en" sz="1250">
                <a:solidFill>
                  <a:srgbClr val="E3E3E3"/>
                </a:solidFill>
              </a:rPr>
              <a:t> Delays in bill generation and payment tracking.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E3E3E3"/>
                </a:solidFill>
              </a:rPr>
              <a:t>Revenue:</a:t>
            </a:r>
            <a:r>
              <a:rPr lang="en" sz="1250">
                <a:solidFill>
                  <a:srgbClr val="E3E3E3"/>
                </a:solidFill>
              </a:rPr>
              <a:t> Limited visibility into outstanding dues and financial analytics.</a:t>
            </a:r>
            <a:endParaRPr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b="1" lang="en" sz="1250">
                <a:solidFill>
                  <a:srgbClr val="E3E3E3"/>
                </a:solidFill>
              </a:rPr>
              <a:t>Experience:</a:t>
            </a:r>
            <a:r>
              <a:rPr lang="en" sz="1250">
                <a:solidFill>
                  <a:srgbClr val="E3E3E3"/>
                </a:solidFill>
              </a:rPr>
              <a:t> Consumers lack easy access to view bills or make payments.</a:t>
            </a:r>
            <a:endParaRPr sz="1250">
              <a:solidFill>
                <a:srgbClr val="E3E3E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E3E3E3"/>
                </a:solidFill>
              </a:rPr>
              <a:t>The Strategic Need</a:t>
            </a:r>
            <a:endParaRPr b="1" sz="1250">
              <a:solidFill>
                <a:srgbClr val="E3E3E3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3E3E3"/>
              </a:buClr>
              <a:buSzPts val="1250"/>
              <a:buChar char="●"/>
            </a:pPr>
            <a:r>
              <a:rPr lang="en" sz="1250">
                <a:solidFill>
                  <a:srgbClr val="E3E3E3"/>
                </a:solidFill>
              </a:rPr>
              <a:t>A centralized, automated, and secure system to manage the entire billing lifecycle.</a:t>
            </a:r>
            <a:endParaRPr sz="1250">
              <a:solidFill>
                <a:srgbClr val="E3E3E3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idx="1" type="subTitle"/>
          </p:nvPr>
        </p:nvSpPr>
        <p:spPr>
          <a:xfrm>
            <a:off x="1194300" y="350400"/>
            <a:ext cx="38184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Project Objectives</a:t>
            </a:r>
            <a:endParaRPr b="1" sz="2700"/>
          </a:p>
        </p:txBody>
      </p:sp>
      <p:sp>
        <p:nvSpPr>
          <p:cNvPr id="154" name="Google Shape;154;p16"/>
          <p:cNvSpPr txBox="1"/>
          <p:nvPr/>
        </p:nvSpPr>
        <p:spPr>
          <a:xfrm>
            <a:off x="1194300" y="1073700"/>
            <a:ext cx="79497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Primary Goal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To design and develop a centralized, secure Full-Stack Utility Billing Application that automates billing and payments.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Technical Objectives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Backend: Implement a robust RESTful API using ASP.NET Core Web API (.NET 9).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Frontend: Build a responsive, modular UI using Angular and TypeScript.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Security: Enforce JWT-based authentication &amp; Role-Based Access Control (RBAC).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Architecture: Apply Clean Architecture principles and enterprise best practices.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Functional Objectives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Automation: Streamline meter reading entry and auto-generate periodic bills.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Tracking: Provide real-time visibility into payments and outstanding balances.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Insights: Enable data-driven decision-making through dashboards and reports.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114125" y="253575"/>
            <a:ext cx="39177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Lato"/>
                <a:ea typeface="Lato"/>
                <a:cs typeface="Lato"/>
                <a:sym typeface="Lato"/>
              </a:rPr>
              <a:t>Technology Stack	</a:t>
            </a:r>
            <a:endParaRPr b="1" sz="2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1114125" y="884175"/>
            <a:ext cx="7851900" cy="44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Backend (Server-Side)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Framework: ASP.NET Core Web API (.NET 9)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Database: SQL Server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ORM: Entity Framework Core (Code-First approach)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Authentication: JWT (JSON Web Tokens) Identity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Documentation: Swagger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Frontend (Client-Side)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Framework: Angular (Latest Version)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Language: TypeScript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UI Components: Angular Material 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State/Data: Reactive Forms &amp; HTTPClient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Tools &amp; Testing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API Testing: Postman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Unit Testing: xUnit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Version Control: Git / GitHub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me archchitecture flowchart with detailsUtility Billing System&#10;Capstone Project Problem Statement&#10;A Secure Full-Stack Web Application using ASP.NET Core &amp; Angular&#10;1. Business Context&#10;Utility service providers (Electricity, Water, Gas, Internet, etc.) manage thousands of consumer connections and monthly billing cycles. Many providers still rely on semi-manual systems, leading to:&#10;• Incorrect meter readings and billing errors&#10;• Delayed bill generation and payment tracking&#10;• Limited visibility into outstanding dues&#10;• Poor customer experience for bill viewing and payments&#10;• Minimal analytics on consumption patterns and revenue&#10;The organization wants to build a centralized Utility Billing System that:&#10;• Manages consumer accounts and meter readings&#10;• Generates accurate periodic bills&#10;• Tracks payments and outstanding balances&#10;• Provides dashboards and reports&#10;• Is secure, scalable, and cloud-ready&#10;2. Project Objective&#10;To design and develop a full-stack utility billing application that:&#10;• Uses ASP.NET Core Web API as the backend&#10;• Uses Angular for frontend development&#10;• Implements JWT-based authentication &amp; authorization&#10;• Applies clean architecture and enterprise best practices&#10;• Demonstrates real-world billing, payment, and reporting workflows&#10;3. Technology Stack&#10;Backend&#10;• ASP.NET Core Web API (.NET 8/9)&#10;• Entity Framework Core&#10;• LINQ for data querying&#10;• SQL Server&#10;• JWT Authentication &amp; Authorization&#10;• Swagger / OpenAPI&#10;Frontend&#10;• Angular (latest version)&#10;• TypeScript&#10;• Angular Material&#10;• Reactive Forms&#10;• HTTPClient &amp; Interceptors&#10;Others&#10;• Postman for API testing&#10;4. User Roles&#10;1. Admin&#10;o Manage users, utility types, tariffs, and billing cycles&#10;2. Billing Officer&#10;o Enter meter readings and generate bills&#10;3. Account Officer&#10;o Track payments and outstanding balances&#10;4. Consumer&#10;o View bills, payment history, and consumption details&#10;5. Core Modules &amp; Features&#10;A. User &amp; Security Management&#10;• Login &amp; role-based access control (RBAC)&#10;• JWT authentication&#10;• Secure billing and payment APIs&#10;B. Consumer &amp; Connection Management&#10;• Consumer registration and profile management&#10;• Utility connection details (type, meter number, tariff plan)&#10;C. Meter Reading Management&#10;• Monthly meter reading entry&#10;• Previous vs current reading validation&#10;• Consumption unit calculation&#10;D. Billing &amp; Invoice Generation&#10;• Auto bill generation based on consumption and tariff&#10;• Taxes, fixed charges, and penalties&#10;• Bill lifecycle:&#10;Generated → Due → Paid → Overdue&#10;E. Payment Tracking&#10;• Record payments (cash / online – mock)&#10;• Outstanding balance calculation&#10;• Payment history view&#10;F. Reports &amp; Dashboards&#10;• Monthly revenue report&#10;• Outstanding dues report&#10;• Consumption by utility type&#10;• Consumer-wise billing summary&#10;G. Notifications (Basic)&#10;• Bill generation notification&#10;• Due date reminders&#10;6. Non-Functional Requirements&#10;• RESTful API design&#10;• Centralized exception handling&#10;• Secure handling of consumer and billing data&#10;• Maintainable and scalable codebase&#10;7. Backend Architecture Expectations&#10;• DTO usage to avoid exposing entities&#10;• Global exception handling middleware&#10;• LINQ for billing calculations and reporting&#10;• Configuration via appsettings.json&#10;8. Angular Frontend Requirements&#10;Modular Architecture&#10;• Core Module (Auth, Guards, Interceptors)&#10;• Shared Module (Reusable components)&#10;• Feature Modules:&#10;o Consumers&#10;o MeterReadings&#10;o Billing&#10;o Payments&#10;o Reports&#10;o Admin&#10;Mandatory Pages&#10;• Login&#10;• Dashboard&#10;• Consumer Management&#10;• Meter Reading Entry&#10;• Bills &amp; Invoices&#10;• Payment History&#10;• Reports&#10;• Admin Panel&#10;9. LINQ &amp; Backend Usage (Mandatory)&#10;Students must demonstrate:&#10;• LINQ filtering and sorting of bills&#10;• Aggregation queries:&#10;o Total revenue per month&#10;o Outstanding dues&#10;o Average consumption&#10;&#10;10. Testing Requirements&#10;• Unit testing using xUnit&#10;• API testing using Postman&#10;• Authentication and authorization test cases&#10;11. Deliverables&#10;• GitHub repository (Backend + Frontend)&#10;• Database schema / ER diagram&#10;• UI screenshots&#10;• README with setup instructions&#10;• Final project presentation"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6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00900" y="91100"/>
            <a:ext cx="4587000" cy="13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User Roles &amp; Security Implementation</a:t>
            </a:r>
            <a:endParaRPr b="1" sz="2600"/>
          </a:p>
        </p:txBody>
      </p:sp>
      <p:sp>
        <p:nvSpPr>
          <p:cNvPr id="171" name="Google Shape;171;p19"/>
          <p:cNvSpPr txBox="1"/>
          <p:nvPr/>
        </p:nvSpPr>
        <p:spPr>
          <a:xfrm>
            <a:off x="800900" y="1394600"/>
            <a:ext cx="83331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Authentication Strategy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JWT (JSON Web Tokens): Stateless authentication mechanism used for all API requests.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Identity Management: ASP.NET Core Identity used for secure password hashing and user storage.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Role-Based Access Control (RBAC)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Admin: Full access to system configuration (Masters, Tariffs).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Billing Officer: Restricted access to </a:t>
            </a:r>
            <a:r>
              <a:rPr i="1" lang="en" sz="1200">
                <a:solidFill>
                  <a:schemeClr val="lt1"/>
                </a:solidFill>
              </a:rPr>
              <a:t>Meter Readings</a:t>
            </a:r>
            <a:r>
              <a:rPr lang="en" sz="1200">
                <a:solidFill>
                  <a:schemeClr val="lt1"/>
                </a:solidFill>
              </a:rPr>
              <a:t> and </a:t>
            </a:r>
            <a:r>
              <a:rPr i="1" lang="en" sz="1200">
                <a:solidFill>
                  <a:schemeClr val="lt1"/>
                </a:solidFill>
              </a:rPr>
              <a:t>Bill Generation</a:t>
            </a:r>
            <a:r>
              <a:rPr lang="en" sz="1200">
                <a:solidFill>
                  <a:schemeClr val="lt1"/>
                </a:solidFill>
              </a:rPr>
              <a:t> only.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Account Officer: Restricted access to </a:t>
            </a:r>
            <a:r>
              <a:rPr i="1" lang="en" sz="1200">
                <a:solidFill>
                  <a:schemeClr val="lt1"/>
                </a:solidFill>
              </a:rPr>
              <a:t>Payment Recording</a:t>
            </a:r>
            <a:r>
              <a:rPr lang="en" sz="1200">
                <a:solidFill>
                  <a:schemeClr val="lt1"/>
                </a:solidFill>
              </a:rPr>
              <a:t> and </a:t>
            </a:r>
            <a:r>
              <a:rPr i="1" lang="en" sz="1200">
                <a:solidFill>
                  <a:schemeClr val="lt1"/>
                </a:solidFill>
              </a:rPr>
              <a:t>Dues Tracking</a:t>
            </a:r>
            <a:r>
              <a:rPr lang="en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Consumer: Read-only access to their own data (Bills, History) + Payment initiation.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Security Best Practices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CORS Policies: Configured to allow requests only from the Angular frontend.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Data Protection: Sensitive data (like passwords) is hashed before storage.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Global Exception Handling: Prevents implementation details from leaking in API error responses.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ete a flowchart for my project 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-24953" r="0" t="0"/>
          <a:stretch/>
        </p:blipFill>
        <p:spPr>
          <a:xfrm>
            <a:off x="-152875" y="0"/>
            <a:ext cx="80962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052550" y="364450"/>
            <a:ext cx="7038900" cy="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Core Modules &amp; Features</a:t>
            </a:r>
            <a:endParaRPr b="1" sz="2500"/>
          </a:p>
        </p:txBody>
      </p:sp>
      <p:sp>
        <p:nvSpPr>
          <p:cNvPr id="182" name="Google Shape;182;p21"/>
          <p:cNvSpPr txBox="1"/>
          <p:nvPr/>
        </p:nvSpPr>
        <p:spPr>
          <a:xfrm>
            <a:off x="1052550" y="1017175"/>
            <a:ext cx="8040000" cy="4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1. Consumer &amp; Connection Management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Onboarding: Secure registration and profile management for new consumers.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Connection Details: Manages meter types, tariff plans, and address details.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2. Meter Reading &amp; Validation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Data Entry: Monthly recording of meter readings by Billing Officers.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Validation Logic: System automatically flags if </a:t>
            </a:r>
            <a:r>
              <a:rPr i="1" lang="en" sz="1200">
                <a:solidFill>
                  <a:schemeClr val="lt1"/>
                </a:solidFill>
              </a:rPr>
              <a:t>Current Reading &lt; Previous Reading</a:t>
            </a:r>
            <a:r>
              <a:rPr lang="en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Calculation: Auto-computes consumption units based on the difference.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3. Billing &amp; Invoicing Engine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Auto-Generation: Generates bills applying tariff rates, taxes, and fixed charges.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Lifecycle Management: Tracks bill status automatically: </a:t>
            </a:r>
            <a:r>
              <a:rPr i="1" lang="en" sz="1200">
                <a:solidFill>
                  <a:schemeClr val="lt1"/>
                </a:solidFill>
              </a:rPr>
              <a:t>Generated → Due → Paid → Overdue</a:t>
            </a:r>
            <a:r>
              <a:rPr lang="en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4. Payment &amp; Reporting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Payment Tracking: specific module to record cash/online payments and update outstanding balances.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Dashboards: Visual analytics for </a:t>
            </a:r>
            <a:r>
              <a:rPr i="1" lang="en" sz="1200">
                <a:solidFill>
                  <a:schemeClr val="lt1"/>
                </a:solidFill>
              </a:rPr>
              <a:t>Total Revenue</a:t>
            </a:r>
            <a:r>
              <a:rPr lang="en" sz="1200">
                <a:solidFill>
                  <a:schemeClr val="lt1"/>
                </a:solidFill>
              </a:rPr>
              <a:t>, </a:t>
            </a:r>
            <a:r>
              <a:rPr i="1" lang="en" sz="1200">
                <a:solidFill>
                  <a:schemeClr val="lt1"/>
                </a:solidFill>
              </a:rPr>
              <a:t>Outstanding Dues</a:t>
            </a:r>
            <a:r>
              <a:rPr lang="en" sz="1200">
                <a:solidFill>
                  <a:schemeClr val="lt1"/>
                </a:solidFill>
              </a:rPr>
              <a:t>, and </a:t>
            </a:r>
            <a:r>
              <a:rPr i="1" lang="en" sz="1200">
                <a:solidFill>
                  <a:schemeClr val="lt1"/>
                </a:solidFill>
              </a:rPr>
              <a:t>Consumption Trends</a:t>
            </a:r>
            <a:r>
              <a:rPr lang="en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56850" y="504600"/>
            <a:ext cx="7372500" cy="1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Data Analytics and LINQ Implementation</a:t>
            </a:r>
            <a:endParaRPr b="1" sz="2700"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56850" y="1848300"/>
            <a:ext cx="6957600" cy="27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Advanced Querying: Leveraging LINQ for sophisticated reporting.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Key Metrics Demonstrated: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Total Revenue per month.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Total Outstanding dues.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Average consumption patterns across utility types.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Consumer-wise billing summaries.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3004475" y="329250"/>
            <a:ext cx="407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UI Screenshots</a:t>
            </a:r>
            <a:endParaRPr b="1"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5375"/>
            <a:ext cx="9144001" cy="40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/>
        </p:nvSpPr>
        <p:spPr>
          <a:xfrm>
            <a:off x="3004475" y="329250"/>
            <a:ext cx="407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UI Screenshots</a:t>
            </a:r>
            <a:endParaRPr b="1"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8150"/>
            <a:ext cx="9144001" cy="40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3004475" y="329250"/>
            <a:ext cx="407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UI Screenshots</a:t>
            </a:r>
            <a:endParaRPr b="1"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8150"/>
            <a:ext cx="9144001" cy="401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ve demo "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089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7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-1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